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19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40 segundos.
Abrir explicando que a apresentação resume o desenvolvimento técnico da Atividade 3, com foco em método, decisões, dificuldades e resultados. Destacar desde o início a mensagem central: o pipeline preservou os 918 registros, gerou uma Delivery com 47 colunas e foi validado em Parquet e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55 segundos.
Explicar que o sucesso não foi definido apenas pela execução sem erro, mas por critérios de validação: contagens, schema, persistência no PostgreSQL, rastreabilidade e documentação dos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60 segundos.
Destacar que o uso de Docker reduziu problemas locais e garantiu coerência entre execução e documentação. Explicar que a arquitetura final separa processamento Spark, persistência Parquet e persistência relacional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75 segundos.
Narrar a lógica das camadas. Ressaltar que RAW não é lugar de tratamento de negócio; Trusted contém limpeza e tipagem; Delivery é o produto analítico e relacional. Enfatizar que o pipeline foi conduzido por validações a cada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65 segundos.
Explicar que os detalhes de encoding, coluna extra e formato numérico foram problemas concretos. O principal ponto é mostrar que as regras não foram adivinhadas: foram diagnosticadas e validadas com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80 segundos.
Mostrar que o enriquecimento foi dividido em dois ramos: CNPJ para instituições com chave numérica e nome normalizado para conglomerados sem CNPJ. Destacar que canonicalizar antes do join foi crucial para evitar joins 1:N.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75 segundos.
Apresentar os números finais da Delivery. Destacar que 47,28% de cobertura é a soma dos enriquecimentos efetivos, mas que os 918 registros foram mantidos, inclusive sem correspondência.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65 segundos.
Explicar que a escrita JDBC foi validada por duas leituras: Spark relendo a tabela e psql consultando diretamente o banco. Reforçar que isso evita depender apenas de uma confirmação interna do Spark.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80 segundos.
Usar este slide para mostrar maturidade técnica: ambiente, JDBC, formato numérico, joins e Unicode. Ressaltar que o relatório não omite as falhas; pelo contrário, registra como elas foram diagnosticadas e corrigidas.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55 segundos.
Fechar reafirmando os critérios de sucesso e a mensagem principal. Se houver pergunta, destacar que a qualidade do pipeline foi medida por preservação de registros, ausência de multiplicação por join, validação dupla em PostgreSQL e documentação das limitações de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412480" y="594360"/>
            <a:ext cx="2651760" cy="54864"/>
          </a:xfrm>
          <a:prstGeom prst="rect">
            <a:avLst/>
          </a:prstGeom>
          <a:solidFill>
            <a:srgbClr val="F2B705">
              <a:alpha val="80000"/>
            </a:srgbClr>
          </a:solidFill>
          <a:ln w="12700">
            <a:solidFill>
              <a:srgbClr val="F2B70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5989320"/>
            <a:ext cx="1920240" cy="54864"/>
          </a:xfrm>
          <a:prstGeom prst="rect">
            <a:avLst/>
          </a:prstGeom>
          <a:solidFill>
            <a:srgbClr val="3BAFDA">
              <a:alpha val="75000"/>
            </a:srgbClr>
          </a:solidFill>
          <a:ln w="12700">
            <a:solidFill>
              <a:srgbClr val="3BAF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612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Ingestão e ETL com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+ Apache Spark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ingestão de arquivos CSV/TSV à Delivery validada em PostgreSQL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3154680"/>
            <a:ext cx="4754880" cy="0"/>
          </a:xfrm>
          <a:prstGeom prst="line">
            <a:avLst/>
          </a:prstGeom>
          <a:noFill/>
          <a:ln w="2794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13232" y="58338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PECE/Poli/USP — Engenharia de Dados &amp; Big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CA2"/>
          </a:solidFill>
          <a:ln w="12700">
            <a:solidFill>
              <a:srgbClr val="2D6C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Escopo da atividade e critérios de sucesso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foi tratado como um pipeline reprodutível e auditável.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55 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D6CA2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185623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 da disciplina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786384" y="2331720"/>
            <a:ext cx="2103120" cy="786384"/>
          </a:xfrm>
          <a:prstGeom prst="roundRect">
            <a:avLst>
              <a:gd name="adj" fmla="val 1395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2104" y="2478024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Processar com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Spark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2103120" cy="786384"/>
          </a:xfrm>
          <a:prstGeom prst="roundRect">
            <a:avLst>
              <a:gd name="adj" fmla="val 1395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91840" y="2478024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SQL para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tratamento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15000" y="2331720"/>
            <a:ext cx="2103120" cy="786384"/>
          </a:xfrm>
          <a:prstGeom prst="roundRect">
            <a:avLst>
              <a:gd name="adj" fmla="val 1395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60720" y="2478024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Camadas RAW,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Trusted, Delivery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2331720"/>
            <a:ext cx="2103120" cy="786384"/>
          </a:xfrm>
          <a:prstGeom prst="roundRect">
            <a:avLst>
              <a:gd name="adj" fmla="val 1395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229600" y="2478024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 relacional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44368" y="2724912"/>
            <a:ext cx="27432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413248" y="2724912"/>
            <a:ext cx="27432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882128" y="2724912"/>
            <a:ext cx="27432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3794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Critério adotado para declarar a entrega concluída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Cardinalidade preservada: 918 registros do início ao fim.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896112" y="47183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Transformações feitas no Spark, com SQL apenas para validação administrativa.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896112" y="51389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disponível em Parquet e PostgreSQL.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896112" y="55595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final documentada com evidências reproduzíveis.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6629400" y="3886200"/>
            <a:ext cx="41605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90372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de encerramento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03720" y="44805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78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VALIDACAO_FINAL_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78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PIPELINE_OK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903720" y="5212080"/>
            <a:ext cx="3429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trabalho foi considerado finalizado quando RAW, Trusted, Delivery, PostgreSQL, schema e qualidade textual foram validados.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33" name="Text 30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CA2"/>
          </a:solidFill>
          <a:ln w="12700">
            <a:solidFill>
              <a:srgbClr val="2D6C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Ambiente e arquitetura de execução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estabilizou o ambiente e isolou PostgreSQL e Spark.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60 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13232" y="1810512"/>
            <a:ext cx="5797296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mnt/data/compat_assets/arquitetura_pipeline.png"/>
          <p:cNvPicPr>
            <a:picLocks noChangeAspect="1"/>
          </p:cNvPicPr>
          <p:nvPr/>
        </p:nvPicPr>
        <p:blipFill>
          <a:blip r:embed="rId3"/>
          <a:srcRect t="319" b="319"/>
          <a:stretch/>
        </p:blipFill>
        <p:spPr>
          <a:xfrm>
            <a:off x="731520" y="1828800"/>
            <a:ext cx="5760720" cy="1554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45643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lógico adotado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final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60920" y="2240280"/>
            <a:ext cx="35661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516368" y="231343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9326880" y="232257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orquestração local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360920" y="2825496"/>
            <a:ext cx="35661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7516368" y="289864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apache/spark:4.1.3-python3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9326880" y="2907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 PySpark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360920" y="3410712"/>
            <a:ext cx="35661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516368" y="3483864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postgres:17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9326880" y="349300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 relacional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7360920" y="3995928"/>
            <a:ext cx="35661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7516368" y="406908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pgJDBC 42.7.13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9326880" y="407822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ponte Spark → PostgreSQL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7360920" y="4736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metodológica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388352" y="51389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PostgreSQL foi usado como destino e validação relacional; as transformações permaneceram no Spark.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7388352" y="5669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dependência JDBC foi resolvida via --packages com cache Ivy em /tmp/.ivy2.</a:t>
            </a:r>
            <a:endParaRPr lang="en-US" sz="1020" dirty="0"/>
          </a:p>
        </p:txBody>
      </p:sp>
      <p:sp>
        <p:nvSpPr>
          <p:cNvPr id="28" name="Shape 24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30" name="Text 26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CA2"/>
          </a:solidFill>
          <a:ln w="12700">
            <a:solidFill>
              <a:srgbClr val="2D6C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Método: pipeline em camadas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camada teve função distinta: preservar, tratar e disponibilizar.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75 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1828800" y="2743200"/>
            <a:ext cx="114300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114300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949440" y="2743200"/>
            <a:ext cx="114300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418320" y="2743200"/>
            <a:ext cx="73152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85800" y="2304288"/>
            <a:ext cx="1143000" cy="877824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2450592"/>
            <a:ext cx="1051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arquivos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71800" y="2304288"/>
            <a:ext cx="1417320" cy="877824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017520" y="2450592"/>
            <a:ext cx="13258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2.431 reg.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32120" y="2304288"/>
            <a:ext cx="1417320" cy="877824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577840" y="2450592"/>
            <a:ext cx="13258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2.431 reg.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2304288"/>
            <a:ext cx="1417320" cy="877824"/>
          </a:xfrm>
          <a:prstGeom prst="roundRect">
            <a:avLst>
              <a:gd name="adj" fmla="val 12500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138160" y="2450592"/>
            <a:ext cx="13258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918 × 47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149840" y="2304288"/>
            <a:ext cx="1371600" cy="877824"/>
          </a:xfrm>
          <a:prstGeom prst="roundRect">
            <a:avLst>
              <a:gd name="adj" fmla="val 12500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195560" y="2450592"/>
            <a:ext cx="12801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918 × 47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Princípio de controle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86384" y="4645152"/>
            <a:ext cx="56235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transição foi acompanhada por uma evidência de contagem, schema, amostra e critério de decisão. A camada RAW preservou a fonte; a Trusted aplicou regras semânticas; a Delivery consolidou os enriquecimentos.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885432" y="4096512"/>
            <a:ext cx="4242816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0" descr="/mnt/data/compat_assets/evid_raw.png"/>
          <p:cNvPicPr>
            <a:picLocks noChangeAspect="1"/>
          </p:cNvPicPr>
          <p:nvPr/>
        </p:nvPicPr>
        <p:blipFill>
          <a:blip r:embed="rId3"/>
          <a:srcRect t="105" b="105"/>
          <a:stretch/>
        </p:blipFill>
        <p:spPr>
          <a:xfrm>
            <a:off x="6903720" y="4114800"/>
            <a:ext cx="4206240" cy="1325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903720" y="5513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RAW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30" name="Text 26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CA2"/>
          </a:solidFill>
          <a:ln w="12700">
            <a:solidFill>
              <a:srgbClr val="2D6C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e Trusted: decisões de tratamento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tratamento priorizou semântica dos dados, rastreabilidade e prevenção de perdas.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65 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58952" y="1746504"/>
            <a:ext cx="5431536" cy="2002536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mnt/data/compat_assets/evid_trusted.png"/>
          <p:cNvPicPr>
            <a:picLocks noChangeAspect="1"/>
          </p:cNvPicPr>
          <p:nvPr/>
        </p:nvPicPr>
        <p:blipFill>
          <a:blip r:embed="rId3"/>
          <a:srcRect l="201" r="201"/>
          <a:stretch/>
        </p:blipFill>
        <p:spPr>
          <a:xfrm>
            <a:off x="777240" y="1764792"/>
            <a:ext cx="5394960" cy="1965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80390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Criação da Trusted de reclamações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76656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Três decisões técnicas relevantes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812280" y="2286000"/>
            <a:ext cx="388620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013448" y="2395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193024" y="238658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Reclamações lidas como ISO-8859-1; demais bases com UTF-8 conforme diagnóstico.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6812280" y="3090672"/>
            <a:ext cx="388620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7013448" y="3200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Coluna _c14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193024" y="319125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Preservada na RAW e removida apenas após comprovação de vazio total.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6812280" y="3895344"/>
            <a:ext cx="388620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013448" y="40050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brasileiro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193024" y="399592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de milhar removido e vírgula decimal convertida antes da tipagem.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822960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da etapa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2788920" y="4800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6CA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2788920" y="5148072"/>
            <a:ext cx="1417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reclamações tratadas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4709160" y="4800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6CA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1.474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709160" y="5148072"/>
            <a:ext cx="1417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enquadramento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6629400" y="4800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6CA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6629400" y="5148072"/>
            <a:ext cx="1417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Glassdoor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8549640" y="4800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8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8549640" y="5148072"/>
            <a:ext cx="1417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perdas na etapa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8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33" name="Text 29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CA2"/>
          </a:solidFill>
          <a:ln w="12700">
            <a:solidFill>
              <a:srgbClr val="2D6C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Integração: chaves, canonicalização e joins seguros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objetivo foi enriquecer sem multiplicar linhas.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80 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694944" y="1673352"/>
            <a:ext cx="4837176" cy="1819656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mnt/data/compat_assets/evid_chaves.png"/>
          <p:cNvPicPr>
            <a:picLocks noChangeAspect="1"/>
          </p:cNvPicPr>
          <p:nvPr/>
        </p:nvPicPr>
        <p:blipFill>
          <a:blip r:embed="rId3"/>
          <a:srcRect t="1946" b="1946"/>
          <a:stretch/>
        </p:blipFill>
        <p:spPr>
          <a:xfrm>
            <a:off x="713232" y="1691640"/>
            <a:ext cx="4800600" cy="1783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35478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das chaves de integração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720840" y="2743200"/>
            <a:ext cx="105156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720840" y="4160520"/>
            <a:ext cx="1051560" cy="0"/>
          </a:xfrm>
          <a:prstGeom prst="line">
            <a:avLst/>
          </a:prstGeom>
          <a:noFill/>
          <a:ln w="19050">
            <a:solidFill>
              <a:srgbClr val="278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464040" y="3401568"/>
            <a:ext cx="685800" cy="0"/>
          </a:xfrm>
          <a:prstGeom prst="line">
            <a:avLst/>
          </a:prstGeom>
          <a:noFill/>
          <a:ln w="19050">
            <a:solidFill>
              <a:srgbClr val="2D6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532120" y="2331720"/>
            <a:ext cx="1234440" cy="896112"/>
          </a:xfrm>
          <a:prstGeom prst="roundRect">
            <a:avLst>
              <a:gd name="adj" fmla="val 12245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577840" y="2478024"/>
            <a:ext cx="1143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Reclamações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CNPJ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437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72400" y="2331720"/>
            <a:ext cx="1234440" cy="896112"/>
          </a:xfrm>
          <a:prstGeom prst="roundRect">
            <a:avLst>
              <a:gd name="adj" fmla="val 12245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818120" y="2478024"/>
            <a:ext cx="1143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CNPJ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normalizado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532120" y="3749040"/>
            <a:ext cx="1234440" cy="896112"/>
          </a:xfrm>
          <a:prstGeom prst="roundRect">
            <a:avLst>
              <a:gd name="adj" fmla="val 12245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577840" y="3895344"/>
            <a:ext cx="1143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Reclamações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CNPJ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481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0" y="3749040"/>
            <a:ext cx="1234440" cy="896112"/>
          </a:xfrm>
          <a:prstGeom prst="roundRect">
            <a:avLst>
              <a:gd name="adj" fmla="val 12245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7818120" y="3895344"/>
            <a:ext cx="1143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normalizado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0149840" y="2980944"/>
            <a:ext cx="1234440" cy="841248"/>
          </a:xfrm>
          <a:prstGeom prst="roundRect">
            <a:avLst>
              <a:gd name="adj" fmla="val 13043"/>
            </a:avLst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10195560" y="3127248"/>
            <a:ext cx="11430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1:N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41248" y="4224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Dimensões canônicas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14400" y="47365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Enquadramento: 1 linha por CNPJ; prioridade para nomes não “PRUDENCIAL”.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914400" y="5093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Glassdoor: 32 nomes canônicos a partir de 34 registros.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914400" y="544982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Ordenação determinística com Window + row_number.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6492240" y="4937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6CA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321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6492240" y="5285232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Enquadramento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8229600" y="4937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8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113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8229600" y="5285232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Glassdoor</a:t>
            </a:r>
            <a:endParaRPr lang="en-US" sz="880" dirty="0"/>
          </a:p>
        </p:txBody>
      </p:sp>
      <p:sp>
        <p:nvSpPr>
          <p:cNvPr id="32" name="Text 29"/>
          <p:cNvSpPr/>
          <p:nvPr/>
        </p:nvSpPr>
        <p:spPr>
          <a:xfrm>
            <a:off x="9966960" y="4937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B66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484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9966960" y="5285232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enriquecimento</a:t>
            </a:r>
            <a:endParaRPr lang="en-US" sz="880" dirty="0"/>
          </a:p>
        </p:txBody>
      </p:sp>
      <p:sp>
        <p:nvSpPr>
          <p:cNvPr id="35" name="Shape 31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2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37" name="Text 33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CA2"/>
          </a:solidFill>
          <a:ln w="12700">
            <a:solidFill>
              <a:srgbClr val="2D6C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final: produto analítico integrado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final preservou a cardinalidade e expôs indicadores de enriquecimento.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75 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13232" y="1700784"/>
            <a:ext cx="4837176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mnt/data/compat_assets/evid_delivery.png"/>
          <p:cNvPicPr>
            <a:picLocks noChangeAspect="1"/>
          </p:cNvPicPr>
          <p:nvPr/>
        </p:nvPicPr>
        <p:blipFill>
          <a:blip r:embed="rId3"/>
          <a:srcRect t="1207" b="1207"/>
          <a:stretch/>
        </p:blipFill>
        <p:spPr>
          <a:xfrm>
            <a:off x="731520" y="1719072"/>
            <a:ext cx="4800600" cy="1810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60273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Criação da Delivery em Parquet</a:t>
            </a:r>
            <a:endParaRPr lang="en-US" sz="850" dirty="0"/>
          </a:p>
        </p:txBody>
      </p:sp>
      <p:pic>
        <p:nvPicPr>
          <p:cNvPr id="11" name="Image 1" descr="/mnt/data/compat_assets/cobertura_enriquecimento.png"/>
          <p:cNvPicPr>
            <a:picLocks noChangeAspect="1"/>
          </p:cNvPicPr>
          <p:nvPr/>
        </p:nvPicPr>
        <p:blipFill>
          <a:blip r:embed="rId4"/>
          <a:srcRect t="750" b="750"/>
          <a:stretch/>
        </p:blipFill>
        <p:spPr>
          <a:xfrm>
            <a:off x="6217920" y="1600200"/>
            <a:ext cx="4709160" cy="2377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9632" y="4160520"/>
            <a:ext cx="4754880" cy="0"/>
          </a:xfrm>
          <a:prstGeom prst="line">
            <a:avLst/>
          </a:prstGeom>
          <a:noFill/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82296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finais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78892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6CA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788920" y="5102352"/>
            <a:ext cx="1143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</a:t>
            </a:r>
            <a:endParaRPr lang="en-US" sz="880" dirty="0"/>
          </a:p>
        </p:txBody>
      </p:sp>
      <p:sp>
        <p:nvSpPr>
          <p:cNvPr id="16" name="Text 12"/>
          <p:cNvSpPr/>
          <p:nvPr/>
        </p:nvSpPr>
        <p:spPr>
          <a:xfrm>
            <a:off x="416052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6CA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160520" y="5102352"/>
            <a:ext cx="1143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colunas</a:t>
            </a:r>
            <a:endParaRPr lang="en-US" sz="880" dirty="0"/>
          </a:p>
        </p:txBody>
      </p:sp>
      <p:sp>
        <p:nvSpPr>
          <p:cNvPr id="18" name="Text 14"/>
          <p:cNvSpPr/>
          <p:nvPr/>
        </p:nvSpPr>
        <p:spPr>
          <a:xfrm>
            <a:off x="5596128" y="4754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8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47,28%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5596128" y="5102352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global</a:t>
            </a:r>
            <a:endParaRPr lang="en-US" sz="880" dirty="0"/>
          </a:p>
        </p:txBody>
      </p:sp>
      <p:sp>
        <p:nvSpPr>
          <p:cNvPr id="20" name="Text 16"/>
          <p:cNvSpPr/>
          <p:nvPr/>
        </p:nvSpPr>
        <p:spPr>
          <a:xfrm>
            <a:off x="7543800" y="4480560"/>
            <a:ext cx="3520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ausência de correspondência não eliminou registros: as linhas sem enriquecimento foram preservadas com indicadores explícitos.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7516368" y="5230368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D6CA2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7589520" y="5303520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CNPJ_ENQUADRAMENTO: 437</a:t>
            </a:r>
            <a:endParaRPr lang="en-US" sz="840" dirty="0"/>
          </a:p>
        </p:txBody>
      </p:sp>
      <p:sp>
        <p:nvSpPr>
          <p:cNvPr id="23" name="Shape 19"/>
          <p:cNvSpPr/>
          <p:nvPr/>
        </p:nvSpPr>
        <p:spPr>
          <a:xfrm>
            <a:off x="9546336" y="5230368"/>
            <a:ext cx="18470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7865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/>
          <p:nvPr/>
        </p:nvSpPr>
        <p:spPr>
          <a:xfrm>
            <a:off x="9619488" y="530352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78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NOME_GLASSDOOR: 481</a:t>
            </a:r>
            <a:endParaRPr lang="en-US" sz="840" dirty="0"/>
          </a:p>
        </p:txBody>
      </p:sp>
      <p:sp>
        <p:nvSpPr>
          <p:cNvPr id="26" name="Shape 21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28" name="Text 23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CA2"/>
          </a:solidFill>
          <a:ln w="12700">
            <a:solidFill>
              <a:srgbClr val="2D6C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Persistência relacional e validação final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PostgreSQL confirmou independentemente a Delivery gerada pelo Spark.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65 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13232" y="1627632"/>
            <a:ext cx="5020056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mnt/data/compat_assets/evid_postgresql.png"/>
          <p:cNvPicPr>
            <a:picLocks noChangeAspect="1"/>
          </p:cNvPicPr>
          <p:nvPr/>
        </p:nvPicPr>
        <p:blipFill>
          <a:blip r:embed="rId3"/>
          <a:srcRect t="9454" b="9454"/>
          <a:stretch/>
        </p:blipFill>
        <p:spPr>
          <a:xfrm>
            <a:off x="731520" y="1645920"/>
            <a:ext cx="4983480" cy="18470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56616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Gravação e releitura via JDBC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45352" y="1627632"/>
            <a:ext cx="5020056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/mnt/data/compat_assets/evid_final.png"/>
          <p:cNvPicPr>
            <a:picLocks noChangeAspect="1"/>
          </p:cNvPicPr>
          <p:nvPr/>
        </p:nvPicPr>
        <p:blipFill>
          <a:blip r:embed="rId4"/>
          <a:srcRect t="7253" b="7253"/>
          <a:stretch/>
        </p:blipFill>
        <p:spPr>
          <a:xfrm>
            <a:off x="6263640" y="1645920"/>
            <a:ext cx="4983480" cy="18470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356616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final consolidada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6868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Dupla validação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868680" y="4617720"/>
            <a:ext cx="230428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996696" y="4727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96696" y="4956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918 registros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colunas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3703320" y="4617720"/>
            <a:ext cx="230428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3831336" y="4727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831336" y="4956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918 registros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colunas</a:t>
            </a:r>
            <a:endParaRPr lang="en-US" sz="870" dirty="0"/>
          </a:p>
        </p:txBody>
      </p:sp>
      <p:sp>
        <p:nvSpPr>
          <p:cNvPr id="21" name="Shape 17"/>
          <p:cNvSpPr/>
          <p:nvPr/>
        </p:nvSpPr>
        <p:spPr>
          <a:xfrm>
            <a:off x="6537960" y="4617720"/>
            <a:ext cx="230428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6665976" y="4727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665976" y="4956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nomes compatíveis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divergência</a:t>
            </a:r>
            <a:endParaRPr lang="en-US" sz="870" dirty="0"/>
          </a:p>
        </p:txBody>
      </p:sp>
      <p:sp>
        <p:nvSpPr>
          <p:cNvPr id="24" name="Text 20"/>
          <p:cNvSpPr/>
          <p:nvPr/>
        </p:nvSpPr>
        <p:spPr>
          <a:xfrm>
            <a:off x="9464040" y="4507992"/>
            <a:ext cx="1874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administrativa via psql foi usada apenas para comprovar o resultado no destino relacional.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28" name="Text 23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CA2"/>
          </a:solidFill>
          <a:ln w="12700">
            <a:solidFill>
              <a:srgbClr val="2D6C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Dificuldades encontradas e decisões tomadas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erros intermediários foram convertidos em critérios metodológicos.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80 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804672" y="1664208"/>
            <a:ext cx="10149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87552" y="177393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Docker/Spark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2560320" y="1773936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dependências e container Spark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6144768" y="1773936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78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 padronizada por compose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804672" y="2377440"/>
            <a:ext cx="10149840" cy="438912"/>
          </a:xfrm>
          <a:prstGeom prst="roundRect">
            <a:avLst>
              <a:gd name="adj" fmla="val 16667"/>
            </a:avLst>
          </a:prstGeom>
          <a:solidFill>
            <a:srgbClr val="F3F6F9"/>
          </a:solidFill>
          <a:ln w="762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87552" y="24871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JDBC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2560320" y="2487168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ausente e cache Ivy inválido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6144768" y="248716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78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--packages + spark.jars.ivy=/tmp/.ivy2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804672" y="3090672"/>
            <a:ext cx="10149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87552" y="320040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2560320" y="3200400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separador de milhar + vírgula decimal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6144768" y="3200400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78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brasileira explícita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804672" y="3803904"/>
            <a:ext cx="10149840" cy="438912"/>
          </a:xfrm>
          <a:prstGeom prst="roundRect">
            <a:avLst>
              <a:gd name="adj" fmla="val 16667"/>
            </a:avLst>
          </a:prstGeom>
          <a:solidFill>
            <a:srgbClr val="F3F6F9"/>
          </a:solidFill>
          <a:ln w="762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87552" y="39136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2560320" y="391363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de multiplicação 1:N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6144768" y="391363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78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dimensões canônicas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804672" y="4517136"/>
            <a:ext cx="10149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87552" y="46268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Unicode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2560320" y="4626864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U+FFFD herdado da fonte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6144768" y="462686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78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documentar, não inferir caracteres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804672" y="5376672"/>
            <a:ext cx="4242816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143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0" descr="/mnt/data/compat_assets/evid_unicode.png"/>
          <p:cNvPicPr>
            <a:picLocks noChangeAspect="1"/>
          </p:cNvPicPr>
          <p:nvPr/>
        </p:nvPicPr>
        <p:blipFill>
          <a:blip r:embed="rId3"/>
          <a:srcRect t="25981" b="25981"/>
          <a:stretch/>
        </p:blipFill>
        <p:spPr>
          <a:xfrm>
            <a:off x="822960" y="5394960"/>
            <a:ext cx="4206240" cy="6858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22960" y="6153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Unicode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53212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Mensagem para defesa oral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5559552" y="5687568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trabalho não foi linear: as falhas registradas permitiram justificar escolhas técnicas e aumentar a rastreabilidade da solução.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1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36" name="Text 32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65D"/>
          </a:solidFill>
          <a:ln w="12700">
            <a:solidFill>
              <a:srgbClr val="2786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Conclusão: entrega validada e reprodutível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pipeline cumpre os requisitos e deixa evidências para auditoria.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0" y="429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55 s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técnico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22311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arquivos de entrada processados.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32688" y="2624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e Trusted com 2.431 registros cada.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932688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final com 918 registros e 47 colunas.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32688" y="34107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com mesma cardinalidade e schema.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32688" y="38039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Limitação textual da fonte documentada sem correção especulativa.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446520" y="1691640"/>
            <a:ext cx="44348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48272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a apresentação de 10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48272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Foco narrativo recomendado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48272" y="2761488"/>
            <a:ext cx="3703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 principal ganho do trabalho foi transformar dados heterogêneos em uma Delivery validada, mantendo a cardinalidade e documentando as limitações da fonte.”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3456432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E9F6EF"/>
          </a:solidFill>
          <a:ln w="12700">
            <a:solidFill>
              <a:srgbClr val="27865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976872" y="3529584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78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VALIDACAO_FINAL_PIPELINE_OK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850392" y="5358384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Referências essenciais: Apache Spark Documentation; PostgreSQL Documentation; PECE/Poli/USP, orientação da Atividade 3. DOI: não aplicável às documentações técnicas oficiais.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502920" y="6510528"/>
            <a:ext cx="11109960" cy="0"/>
          </a:xfrm>
          <a:prstGeom prst="line">
            <a:avLst/>
          </a:prstGeom>
          <a:noFill/>
          <a:ln w="10160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66928" y="65836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— Ingestão e ETL com Python + Spark | PECE/Poli/USP</a:t>
            </a:r>
            <a:endParaRPr lang="en-US" sz="760" dirty="0"/>
          </a:p>
        </p:txBody>
      </p:sp>
      <p:sp>
        <p:nvSpPr>
          <p:cNvPr id="24" name="Text 21"/>
          <p:cNvSpPr/>
          <p:nvPr/>
        </p:nvSpPr>
        <p:spPr>
          <a:xfrm>
            <a:off x="11155680" y="6537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B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1486</Words>
  <Application>Microsoft Office PowerPoint</Application>
  <PresentationFormat>Widescreen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PECE/Poli/USP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3 — Ingestão e ETL com Python e Apache Spark</dc:title>
  <dc:subject>Apresentação da Atividade 3 - Ingestão e ETL com Python + Spark</dc:subject>
  <dc:creator>Breno Tostes de Gomes Garcia</dc:creator>
  <cp:lastModifiedBy>Breno Tostes Garcia</cp:lastModifiedBy>
  <cp:revision>2</cp:revision>
  <dcterms:created xsi:type="dcterms:W3CDTF">2026-08-17T20:01:39Z</dcterms:created>
  <dcterms:modified xsi:type="dcterms:W3CDTF">2026-08-17T20:04:58Z</dcterms:modified>
</cp:coreProperties>
</file>