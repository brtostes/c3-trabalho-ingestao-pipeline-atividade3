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83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7" y="1115568"/>
            <a:ext cx="1013327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Ingestão e ETL com Python + Spark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85799" y="2523744"/>
            <a:ext cx="92777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7E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RAW → Trusted → Delivery → PostgreSQL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7E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PECE/Poli/USP · Engenharia de Dados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944" y="4343400"/>
            <a:ext cx="10698480" cy="0"/>
          </a:xfrm>
          <a:prstGeom prst="line">
            <a:avLst/>
          </a:prstGeom>
          <a:noFill/>
          <a:ln w="12700">
            <a:solidFill>
              <a:srgbClr val="334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94944" y="47365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Passos adotados, critérios de decisão e resultados obtidos em cada camada.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4944" y="52669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8D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documental: Relatório Técnico e evidências E01–E39.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e arquitetura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geral do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arquivos heterogêneos em uma Delivery integrada e validada.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 Arquitetura e critérios gerais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1737360"/>
            <a:ext cx="0" cy="105156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543800" y="17373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7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Preservar na RAW, qualificar na Trusted e integrar na Delivery sem alterar a cardinalidade.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7543800" y="3063240"/>
            <a:ext cx="39319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 algn="just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com PySpark DataFrame API.</a:t>
            </a:r>
            <a:endParaRPr lang="en-US" sz="1420" dirty="0"/>
          </a:p>
          <a:p>
            <a:pPr marL="152400" indent="-152400" algn="just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Validações em cada transição de camada.</a:t>
            </a:r>
            <a:endParaRPr lang="en-US" sz="1420" dirty="0"/>
          </a:p>
          <a:p>
            <a:pPr marL="152400" indent="-152400" algn="just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final em Parquet e PostgreSQL via JDBC.</a:t>
            </a:r>
            <a:endParaRPr lang="en-US" sz="1420" dirty="0"/>
          </a:p>
          <a:p>
            <a:pPr marL="152400" indent="-152400" algn="just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 preservadas para reprodutibilidade.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registros preservados até a Delivery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89720" y="51480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colunas finais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287000" y="5148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E01–E39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evidências do processo</a:t>
            </a:r>
            <a:endParaRPr 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D21E80-DD9B-0FED-60C6-E3A1BA5D3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76" y="2407635"/>
            <a:ext cx="6593367" cy="8357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1 · ambiente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Preparação do ambiente de execução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processamento foi estabilizado no WSL2/Ubuntu para evitar dependências específicas do Windows.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Configuração e testes mínimos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4709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inicial no Windows indicou falha na execução do Spark local.</a:t>
            </a:r>
            <a:endParaRPr lang="en-US" sz="1480" dirty="0"/>
          </a:p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Migração para WSL2/Ubuntu com Python 3.14.4, Java 17 e PySpark 4.1.3.</a:t>
            </a:r>
            <a:endParaRPr lang="en-US" sz="1480" dirty="0"/>
          </a:p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de DataFrame e Parquet antes da ingestão real.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749808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PySpark 4.1.3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versão validada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7180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Parquet OK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leitura e escrita confirmadas</a:t>
            </a:r>
            <a:endParaRPr lang="en-US" sz="2400" dirty="0"/>
          </a:p>
        </p:txBody>
      </p:sp>
      <p:pic>
        <p:nvPicPr>
          <p:cNvPr id="12" name="Image 0" descr="/mnt/data/relatorio_atividade3_assets/evid_windows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628" y="1042416"/>
            <a:ext cx="4517663" cy="252989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0" y="3566160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do diagnóstico inicial e execução Spark.</a:t>
            </a:r>
            <a:endParaRPr lang="en-US" sz="800" dirty="0"/>
          </a:p>
        </p:txBody>
      </p:sp>
      <p:pic>
        <p:nvPicPr>
          <p:cNvPr id="14" name="Image 1" descr="/mnt/data/relatorio_atividade3_assets/evid_windows_parqu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27" y="3760902"/>
            <a:ext cx="4212864" cy="25043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6306363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Parquet concluído com sucesso.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2 · dados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Bases de entrada e rastreabilidade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fontes foram copiadas de forma controlada e validadas por SHA-256.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Inventário das bases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49377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CSV de reclamações: 918 registros ao final da RAW.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TSV de enquadramento: 1.474 registros.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CSV Glassdoor: 34 + 5 registros.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confirmou equivalência entre origem e destino.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00507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arquivos de entrada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4005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diferenças origem/destino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400507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scripts registrados</a:t>
            </a:r>
            <a:endParaRPr lang="en-US" sz="2400" dirty="0"/>
          </a:p>
        </p:txBody>
      </p:sp>
      <p:pic>
        <p:nvPicPr>
          <p:cNvPr id="13" name="Image 0" descr="/mnt/data/relatorio_atividade3_assets/evid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41423"/>
            <a:ext cx="5806440" cy="14516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06440" y="4507992"/>
            <a:ext cx="5806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Evidência: inventário final dos scripts, camadas e evidências.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06440" y="4754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entrada controlada e rastreável antes de qualquer transformação.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3 · RAW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RAW: ingestão com preservação da fonte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camada RAW foi materializada em Parquet sem limpeza semântica.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Leitura com delimitadores e codificações específicas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4709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de reclamações: delimitador “;” e Windows-1252.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TSV de enquadramento: tabulação.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Glassdoor: delimitador “|”.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inferSchema desativado para preservar campos como texto.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00507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reclamações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4028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1.474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enquadramento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60520" y="400507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Glassdoor</a:t>
            </a:r>
            <a:endParaRPr lang="en-US" sz="2400" dirty="0"/>
          </a:p>
        </p:txBody>
      </p:sp>
      <p:pic>
        <p:nvPicPr>
          <p:cNvPr id="13" name="Image 0" descr="/mnt/data/relatorio_atividade3_assets/evid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521458"/>
            <a:ext cx="5943600" cy="1485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50109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E15/E16: ingestão e validação da RAW.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4 · validação RAW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validada: regra objetiva para _c14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coluna residual foi mantida na RAW e removida apenas após auditoria.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Auditoria antes de transformar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0" cy="105156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_c14 estava vazia em todos os 918 registros; a remoção foi transferida para a Trusted e documentada.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34340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 reclamações validado: 918.</a:t>
            </a:r>
            <a:endParaRPr lang="en-US" sz="1480" dirty="0"/>
          </a:p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_c14 preenchida: 0 registros.</a:t>
            </a:r>
            <a:endParaRPr lang="en-US" sz="1480" dirty="0"/>
          </a:p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as colunas ainda como string na RAW.</a:t>
            </a:r>
            <a:endParaRPr lang="en-US" sz="1480" dirty="0"/>
          </a:p>
          <a:p>
            <a:pPr marL="152400" indent="-152400">
              <a:buSzPct val="100000"/>
              <a:buChar char="•"/>
            </a:pPr>
            <a:r>
              <a:rPr lang="en-US" sz="14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preservada em E16.</a:t>
            </a:r>
            <a:endParaRPr lang="en-US" sz="1480" dirty="0"/>
          </a:p>
        </p:txBody>
      </p:sp>
      <p:pic>
        <p:nvPicPr>
          <p:cNvPr id="12" name="Image 0" descr="/mnt/data/relatorio_atividade3_assets/evid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737485"/>
            <a:ext cx="5715000" cy="1428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0" y="535838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da RAW: total de reclamações e _c14 vazia.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5 · Trusted Reclamações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Trusted das reclamações: limpeza, tipagem e controle temporal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principal foi consolidada e validada com 918 registros.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Consolidação dos sete trimestres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47091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União dos sete trimestres por unionByName.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Remoção justificada de _c14.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Padronização de nomes e strings vazias.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Conversão de ano, trimestre, quantidades e índice.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Inclusão de arquivo_origem para rastreabilidade.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749808" y="4251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 → 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cardinalidade preservada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42519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valores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 com milhar corrigido</a:t>
            </a:r>
            <a:endParaRPr lang="en-US" sz="2400" dirty="0"/>
          </a:p>
        </p:txBody>
      </p:sp>
      <p:pic>
        <p:nvPicPr>
          <p:cNvPr id="12" name="Image 0" descr="/mnt/data/relatorio_atividade3_assets/evid_trus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450084"/>
            <a:ext cx="5852160" cy="19669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0" y="547725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E20/E21: schema final e validação da Trusted de reclamações.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6 · CNPJ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Chave CNPJ: normalização sem perda de rastreabilidade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chave cnpj_8 aumentou as correspondências sem alterar os identificadores originais.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Diagnóstico e padronização de CNPJ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783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 → 72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matches distintos após cnpj_8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colisões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60520" y="17830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64,29%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cobertura das 112 chaves das reclamações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50749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CNPJ permaneceu como string, pois é identificador e não medida.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original preservado; chave cnpj_8 criada para integração.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foi adotada somente após diagnóstico de colisões.</a:t>
            </a:r>
            <a:endParaRPr lang="en-US" sz="1450" dirty="0"/>
          </a:p>
        </p:txBody>
      </p:sp>
      <p:pic>
        <p:nvPicPr>
          <p:cNvPr id="13" name="Image 0" descr="/mnt/data/relatorio_atividade3_assets/evid_cnp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476437"/>
            <a:ext cx="5532120" cy="185940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89320" y="540410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E23/E24: diagnóstico e padronização da chave CNPJ.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7 · Glassdoor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Trusted Glassdoor: preparação para enriquecimento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bases Glassdoor foram tratadas separadamente por apresentarem formas diferentes de associação.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match por nome e match_less por CNPJ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4800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match: 34 registros e 32 nomes distintos.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match_less: 5 registros com CNPJ e match_percent entre 65% e 77%.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Duplicidades identificadas: JP MORGAN CHASE e VOTORANTIM.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integração utilizou nome como caminho principal e CNPJ como fallback.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49808" y="41605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linhas alcançadas por nome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4160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linhas alcançadas por CNPJ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03320" y="4160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linhas enriquecidas com Glassdoor</a:t>
            </a:r>
            <a:endParaRPr lang="en-US" sz="2400" dirty="0"/>
          </a:p>
        </p:txBody>
      </p:sp>
      <p:pic>
        <p:nvPicPr>
          <p:cNvPr id="13" name="Image 0" descr="/mnt/data/relatorio_atividade3_assets/evid_ca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85182"/>
            <a:ext cx="5779008" cy="20419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06440" y="5404104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E27/E29: duplicidades e seleção canônica.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8 · canonicalização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Canonicalização para evitar multiplicação de linhas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dimensões de staging foram criadas com uma linha por chave antes da Delivery.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Regra anti-join 1:N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54864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Enquadramento: priorizar registro não “PRUDENCIAL”; em empate, nome mais descritivo.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Glassdoor match: maior match_percent; em empate, maior geral e maior reviews_count.</a:t>
            </a:r>
            <a:endParaRPr lang="en-US" sz="1430" dirty="0"/>
          </a:p>
          <a:p>
            <a:pPr marL="152400" indent="-152400"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match_less: 5 CNPJs sem duplicidade.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49808" y="3703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1.474 → 1.459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chaves canônicas de enquadramento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73552" y="3703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 → 32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nomes canônicos Glassdoor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37033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duplicidades finais</a:t>
            </a:r>
            <a:endParaRPr lang="en-US" sz="2400" dirty="0"/>
          </a:p>
        </p:txBody>
      </p:sp>
      <p:pic>
        <p:nvPicPr>
          <p:cNvPr id="13" name="Image 0" descr="/mnt/data/relatorio_atividade3_assets/evid_ca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86711"/>
            <a:ext cx="5074920" cy="17931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31266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E29: dimensões canônicas gravadas.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9 · Delivery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integrada: enriquecimento sem alterar a cardinalidade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final combinou reclamações, enquadramento e Glassdoor em 918 linhas.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Integração final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7830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 → 918 → 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antes, após joins e final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colunas finais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linhas com BACEN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" y="2926080"/>
            <a:ext cx="4937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com enquadramento por cnpj_8 canônico.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com Glassdoor por nome normalizado.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por CNPJ para match_less quando não havia match por nome.</a:t>
            </a:r>
            <a:endParaRPr lang="en-US" sz="1410" dirty="0"/>
          </a:p>
          <a:p>
            <a:pPr marL="152400" indent="-152400">
              <a:buSzPct val="100000"/>
              <a:buChar char="•"/>
            </a:pPr>
            <a:r>
              <a:rPr lang="en-US" sz="14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data/delivery/reclamacoes_integradas.</a:t>
            </a:r>
            <a:endParaRPr lang="en-US" sz="1410" dirty="0"/>
          </a:p>
        </p:txBody>
      </p:sp>
      <p:pic>
        <p:nvPicPr>
          <p:cNvPr id="13" name="Image 0" descr="/mnt/data/relatorio_atividade3_assets/evid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87664"/>
            <a:ext cx="5532120" cy="30027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89320" y="581558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E30: cardinalidade preservada e schema da Delivery.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por período e cobertura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validação final quantificou a distribuição temporal e o enriquecimento obtido.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Indicadores finais</a:t>
            </a:r>
            <a:endParaRPr lang="en-US" sz="1150" dirty="0"/>
          </a:p>
        </p:txBody>
      </p:sp>
      <p:pic>
        <p:nvPicPr>
          <p:cNvPr id="9" name="Image 0" descr="/mnt/data/relatorio_atividade3_assets/chart_peri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94" y="1627632"/>
            <a:ext cx="5477117" cy="2697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437997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dos 918 registros por período.</a:t>
            </a:r>
            <a:endParaRPr lang="en-US" sz="800" dirty="0"/>
          </a:p>
        </p:txBody>
      </p:sp>
      <p:pic>
        <p:nvPicPr>
          <p:cNvPr id="11" name="Image 1" descr="/mnt/data/relatorio_atividade3_assets/chart_cober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323" y="1627632"/>
            <a:ext cx="4557051" cy="269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0528" y="43799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do enriquecimento na Delivery.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68680" y="48280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34,97%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321 registros com enquadramento BACEN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20440" y="48280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13,18%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121 registros com Glassdoor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132320" y="48280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períodos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2022/2º não existia na fonte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555480" y="482803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validado no psql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 10 · PostgreSQL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relacional e validação independente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Delivery foi gravada em PostgreSQL via JDBC e conferida fora do Spark.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Spark JDBC e psql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00784"/>
            <a:ext cx="48920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 WSL → PostgreSQL Windows pela rede virtual.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PostgreSQL 42.7.13 carregado pelo Spark.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 public.reclamacoes_integradas criada no banco atividade3.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independente por psql confirmou 918 registros e 31 colunas.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4069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 × 31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Parquet = PostgreSQL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40690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JDBC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via Spark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15968" y="40690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psql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 externa</a:t>
            </a:r>
            <a:endParaRPr lang="en-US" sz="2400" dirty="0"/>
          </a:p>
        </p:txBody>
      </p:sp>
      <p:pic>
        <p:nvPicPr>
          <p:cNvPr id="13" name="Image 0" descr="/mnt/data/relatorio_atividade3_assets/evid_jd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856" y="1664208"/>
            <a:ext cx="5448167" cy="1737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3456432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E36/E37: conexão JDBC e carga.</a:t>
            </a:r>
            <a:endParaRPr lang="en-US" sz="800" dirty="0"/>
          </a:p>
        </p:txBody>
      </p:sp>
      <p:pic>
        <p:nvPicPr>
          <p:cNvPr id="15" name="Image 1" descr="/mnt/data/relatorio_atividade3_assets/evid_p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3886200"/>
            <a:ext cx="4114800" cy="1737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5678424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E38: validação independente pelo psql.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Dificuldades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Dificuldades encontradas e decisões técnicas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anomalias foram tratadas com diagnóstico explícito e sem inferências não verificáveis.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Tratamento de riscos técnicos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57150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 no Windows: migração para WSL2.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brasileiro: remoção de ponto de milhar e vírgula decimal.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CNPJ curto: criação de cnpj_8 sem apagar o valor original.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1:N: canonicalização antes da Delivery.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Caracteres U+FFFD: investigação byte a byte; limitação documentada da fonte.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0" cy="868680"/>
          </a:xfrm>
          <a:prstGeom prst="line">
            <a:avLst/>
          </a:prstGeom>
          <a:noFill/>
          <a:ln w="381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substituir 3.109 caracteres por aproximação: a fonte já continha U+FFFD fisicamente gravado.</a:t>
            </a:r>
            <a:endParaRPr lang="en-US" sz="1720" dirty="0"/>
          </a:p>
        </p:txBody>
      </p:sp>
      <p:pic>
        <p:nvPicPr>
          <p:cNvPr id="12" name="Image 0" descr="/mnt/data/relatorio_atividade3_assets/evid_enco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507933"/>
            <a:ext cx="4800600" cy="16135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503834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E31–E33: análise de caracteres corrompidos nos bytes dos arquivos.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6601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3 · Python + Spark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43800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Reprodutibilidade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2918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Evidências e reprodutibilidade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6072" y="80467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inventário final documentou scripts, evidências, camadas materializadas e hashes.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85216" y="1143000"/>
            <a:ext cx="1051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03504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D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Cadeia documental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4D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scripts Python com SHA-256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38+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evidências produzidas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6908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camadas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input, RAW, Trusted e Delivery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999232"/>
            <a:ext cx="5212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de falhas foram preservados junto com as versões corrigidas.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 abrangem ambiente, ingestão, validações, integração e PostgreSQL.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hashes dos scripts reforçam a reprodutibilidade da entrega.</a:t>
            </a:r>
            <a:endParaRPr lang="en-US" sz="1440" dirty="0"/>
          </a:p>
        </p:txBody>
      </p:sp>
      <p:pic>
        <p:nvPicPr>
          <p:cNvPr id="13" name="Image 0" descr="/mnt/data/relatorio_atividade3_assets/evid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94585"/>
            <a:ext cx="5166360" cy="12915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462686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E39: inventário final da Atividade 3.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0" y="48463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processo auditável e apto a compor o Relatório Técnico.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 final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94944" y="1170432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Spark implementado, validado e documentado de ponta a ponta.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C8D8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arquivos de entrada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14600" y="26974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918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C8D8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linhas finais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77640" y="26974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C8D8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colunas integradas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2400" dirty="0"/>
          </a:p>
          <a:p>
            <a:pPr marL="0" indent="0">
              <a:buNone/>
            </a:pPr>
            <a:r>
              <a:rPr lang="en-US" sz="950" dirty="0">
                <a:solidFill>
                  <a:srgbClr val="C8D8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 relacional validada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aprendizados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61104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diagnosticar antes de transformar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controlar chaves e cardinalidade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 cada transição de camada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preservar falhas como evidência de desenvolvimento</a:t>
            </a:r>
            <a:endParaRPr lang="en-US" sz="1500" dirty="0"/>
          </a:p>
        </p:txBody>
      </p:sp>
      <p:pic>
        <p:nvPicPr>
          <p:cNvPr id="11" name="Image 0" descr="/mnt/data/relatorio_atividade3_assets/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320" y="3703320"/>
            <a:ext cx="3195320" cy="1691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5925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8D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final: pipeline reprodutível, evidenciado e apto para apresentação acadêmica.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1514</Words>
  <Application>Microsoft Office PowerPoint</Application>
  <PresentationFormat>Widescreen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PECE/Poli/USP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3 – Ingestão e ETL com Python + Spark</dc:title>
  <dc:subject>Atividade 3 – Ingestão e ETL com Python + Spark</dc:subject>
  <dc:creator>OpenAI</dc:creator>
  <cp:lastModifiedBy>Breno Tostes Garcia</cp:lastModifiedBy>
  <cp:revision>2</cp:revision>
  <dcterms:created xsi:type="dcterms:W3CDTF">2026-08-16T19:50:24Z</dcterms:created>
  <dcterms:modified xsi:type="dcterms:W3CDTF">2026-08-16T19:53:48Z</dcterms:modified>
</cp:coreProperties>
</file>